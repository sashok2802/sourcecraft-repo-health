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2" r:id="rId2"/>
    <p:sldId id="263" r:id="rId3"/>
    <p:sldId id="264" r:id="rId4"/>
    <p:sldId id="265" r:id="rId5"/>
    <p:sldId id="266" r:id="rId6"/>
    <p:sldId id="267" r:id="rId7"/>
    <p:sldId id="270" r:id="rId8"/>
    <p:sldId id="271" r:id="rId9"/>
    <p:sldId id="281" r:id="rId10"/>
    <p:sldId id="269" r:id="rId11"/>
    <p:sldId id="293" r:id="rId12"/>
    <p:sldId id="278" r:id="rId13"/>
    <p:sldId id="272" r:id="rId14"/>
    <p:sldId id="279" r:id="rId15"/>
    <p:sldId id="280" r:id="rId16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0" autoAdjust="0"/>
    <p:restoredTop sz="94660"/>
  </p:normalViewPr>
  <p:slideViewPr>
    <p:cSldViewPr snapToGrid="0" showGuides="1">
      <p:cViewPr varScale="1">
        <p:scale>
          <a:sx n="154" d="100"/>
          <a:sy n="154" d="100"/>
        </p:scale>
        <p:origin x="564" y="144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>
      <a:off x="625096" y="1360288"/>
      <a:ext cx="5125748" cy="4385667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Слои системы</c:v>
                </c:pt>
              </c:strCache>
            </c:strRef>
          </c:tx>
          <c:spPr>
            <a:ln w="63500"/>
          </c:spPr>
          <c:dPt>
            <c:idx val="0"/>
            <c:bubble3D val="0"/>
            <c:spPr bwMode="auto">
              <a:prstGeom prst="rect">
                <a:avLst/>
              </a:prstGeom>
              <a:solidFill>
                <a:schemeClr val="accent1"/>
              </a:solidFill>
              <a:ln w="63500" cap="rnd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06-4A74-B6AA-555AE01EA180}"/>
              </c:ext>
            </c:extLst>
          </c:dPt>
          <c:dPt>
            <c:idx val="1"/>
            <c:bubble3D val="0"/>
            <c:spPr bwMode="auto">
              <a:prstGeom prst="rect">
                <a:avLst/>
              </a:prstGeom>
              <a:solidFill>
                <a:schemeClr val="accent5"/>
              </a:solidFill>
              <a:ln w="63500" cap="rnd"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06-4A74-B6AA-555AE01EA180}"/>
              </c:ext>
            </c:extLst>
          </c:dPt>
          <c:dPt>
            <c:idx val="2"/>
            <c:bubble3D val="0"/>
            <c:spPr bwMode="auto">
              <a:prstGeom prst="rect">
                <a:avLst/>
              </a:prstGeom>
              <a:solidFill>
                <a:schemeClr val="accent4"/>
              </a:solidFill>
              <a:ln w="63500" cap="rnd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06-4A74-B6AA-555AE01EA180}"/>
              </c:ext>
            </c:extLst>
          </c:dPt>
          <c:dPt>
            <c:idx val="3"/>
            <c:bubble3D val="0"/>
            <c:spPr bwMode="auto">
              <a:prstGeom prst="rect">
                <a:avLst/>
              </a:prstGeom>
              <a:solidFill>
                <a:schemeClr val="accent2"/>
              </a:solidFill>
              <a:ln w="63500" cap="rnd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106-4A74-B6AA-555AE01EA180}"/>
              </c:ext>
            </c:extLst>
          </c:dPt>
          <c:dLbls>
            <c:dLbl>
              <c:idx val="2"/>
              <c:spPr bwMode="auto"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3106-4A74-B6AA-555AE01EA180}"/>
                </c:ext>
              </c:extLst>
            </c:dLbl>
            <c:dLbl>
              <c:idx val="3"/>
              <c:spPr bwMode="auto"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3106-4A74-B6AA-555AE01EA180}"/>
                </c:ext>
              </c:extLst>
            </c:dLbl>
            <c:spPr bwMode="auto">
              <a:solidFill>
                <a:prstClr val="white">
                  <a:alpha val="10000"/>
                </a:prst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Интерфейс</c:v>
                </c:pt>
                <c:pt idx="1">
                  <c:v>API</c:v>
                </c:pt>
                <c:pt idx="2">
                  <c:v>Анализ</c:v>
                </c:pt>
                <c:pt idx="3">
                  <c:v>PostgreSQL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20</c:v>
                </c:pt>
                <c:pt idx="2">
                  <c:v>40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106-4A74-B6AA-555AE01EA1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>
      <a:off x="625096" y="1360288"/>
      <a:ext cx="5125748" cy="4385667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086499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893282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12336620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10190700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19597725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0905963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FE4857-D9FC-27BA-82E5-41B723D40F0C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7218B0-5900-EAD1-38AD-E41056A4EBE1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931332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523695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27280647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536190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90698910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61467950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C37627-9AD3-6190-36E4-68CEEF0032CC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2BF2D0-BC99-25FF-5ACF-EF0E3E6080D1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1B4E5D-1AC0-0CEA-0A30-42A69400E8B5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041DAD-2D07-DCF7-5493-A106E97A129F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34EDD-3664-31BE-CF80-BDDFF7196C4D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655012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46932656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95687541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4377D1-FCB1-D58F-99E4-1A0323CFFC18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818034-00D6-9881-224C-8862949A173E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22E767-3C35-B26C-65F4-D6203411B976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9244E1-0938-21D9-D777-A80836E3062F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942456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212803636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124331906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15810557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40946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585295048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37170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87748467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487333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81068490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16608543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291225696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72931137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799474458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80690920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92364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81915983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2966639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088255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1883463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68074620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3392334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1299712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680976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51402672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5548751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92515506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42501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0589573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714350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39341824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12668823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5519005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4177563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378361166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09419477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5970930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84487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23250374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679240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87004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94928945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5062121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6851095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85639538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831870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318393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1973044929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2353073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0809385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23772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212474525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1001045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709167286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080963794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54365457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0860760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9293158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927656278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36998623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357034609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966591969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479460704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2549052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36534010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49981353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39257574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30676957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13902391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446519391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805579190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661427084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4304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97499588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8670358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6817049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99613102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53942942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9384384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60590694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27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8189124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4092957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238636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688110507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93985768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32770153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56460599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0316930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23163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906077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7724092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60711497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5811025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5344959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27343350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99098599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18154682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44493671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01863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179657993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36853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46250605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18603145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35174176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60293817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93806449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07777308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41803932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00804221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60644710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7931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127743894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4845552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466215712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59429597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29078736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6665000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9663456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4181527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42766858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5321738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9933190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95836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27470270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8310035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9842124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04500282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41331098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9719188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19466720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4769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58056107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22618052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33327608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65989851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60994264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92139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71327802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311823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86518918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8936528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06023884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6897472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165342561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468680790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377215743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807024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39012914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130259532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3807126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615254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1604421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35403846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5874490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26340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02474545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90442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864162738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53723075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3675919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3758663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1394920064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305537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61899927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076724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8362970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9087429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1546370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88830362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79667192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8329083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1030686665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662190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01742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041314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4474790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1065086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870989559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942450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00442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49257395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03814706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363632338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4594836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129881704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8339586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39249504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87882548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8050890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23258981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3329409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7362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02684875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9362934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4243837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4525328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247890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 dirty="0" err="1">
                <a:solidFill>
                  <a:schemeClr val="bg1"/>
                </a:solidFill>
              </a:rPr>
              <a:t>ProblemSolutions</a:t>
            </a:r>
            <a:br>
              <a:rPr lang="ru-RU" sz="4800" dirty="0">
                <a:solidFill>
                  <a:schemeClr val="bg1"/>
                </a:solidFill>
              </a:rPr>
            </a:br>
            <a:r>
              <a:rPr lang="ru-RU" sz="4800" dirty="0" err="1">
                <a:solidFill>
                  <a:schemeClr val="bg1"/>
                </a:solidFill>
              </a:rPr>
              <a:t>Maxxing</a:t>
            </a:r>
            <a:endParaRPr lang="ru-RU" sz="4800" dirty="0"/>
          </a:p>
        </p:txBody>
      </p:sp>
      <p:sp>
        <p:nvSpPr>
          <p:cNvPr id="693389089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 lang="ru-RU" dirty="0"/>
              <a:t>№8 Сервис оценки  здоровья открытых репозиториев </a:t>
            </a:r>
            <a:r>
              <a:rPr lang="en-US" dirty="0" err="1"/>
              <a:t>SourceCraft</a:t>
            </a:r>
            <a:endParaRPr lang="ru-RU" dirty="0"/>
          </a:p>
        </p:txBody>
      </p:sp>
      <p:sp>
        <p:nvSpPr>
          <p:cNvPr id="798917719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0" name="Image 13" descr=" ">
            <a:extLst>
              <a:ext uri="{FF2B5EF4-FFF2-40B4-BE49-F238E27FC236}">
                <a16:creationId xmlns:a16="http://schemas.microsoft.com/office/drawing/2014/main" id="{C636FD84-96AC-E844-6C6A-A1C2854372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46254" y="641541"/>
            <a:ext cx="2639230" cy="3745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651725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272213045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</p:sp>
      <p:sp>
        <p:nvSpPr>
          <p:cNvPr id="1090504290" name="Текст 8"/>
          <p:cNvSpPr txBox="1"/>
          <p:nvPr/>
        </p:nvSpPr>
        <p:spPr bwMode="auto">
          <a:xfrm>
            <a:off x="6836607" y="2303133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  <a:endParaRPr dirty="0"/>
          </a:p>
        </p:txBody>
      </p:sp>
      <p:sp>
        <p:nvSpPr>
          <p:cNvPr id="1443458087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Наше решение собирает сведения о репозитории из разных разделов </a:t>
            </a:r>
            <a:r>
              <a:rPr lang="ru-RU" dirty="0" err="1">
                <a:solidFill>
                  <a:schemeClr val="tx1"/>
                </a:solidFill>
              </a:rPr>
              <a:t>SourceCraft</a:t>
            </a:r>
            <a:r>
              <a:rPr lang="ru-RU" dirty="0">
                <a:solidFill>
                  <a:schemeClr val="tx1"/>
                </a:solidFill>
              </a:rPr>
              <a:t> в одну понятную оценку и показывает, из чего она сложилась. Лайки и популярность эту оценку не поднимают.</a:t>
            </a:r>
            <a:endParaRPr dirty="0"/>
          </a:p>
        </p:txBody>
      </p:sp>
      <p:sp>
        <p:nvSpPr>
          <p:cNvPr id="649938114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Ганялин Илья Михайлович</a:t>
            </a:r>
            <a:endParaRPr lang="ru-RU"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5 человек</a:t>
            </a:r>
            <a:endParaRPr lang="ru-RU"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Команда собралась из студентов второго курса.</a:t>
            </a:r>
            <a:endParaRPr lang="ru-RU" dirty="0"/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Учёба: РТУ МИРЭА, СГТУ имени Гагарина Ю. А., СПбГЭТУ «ЛЭТИ»</a:t>
            </a:r>
            <a:r>
              <a:rPr lang="en-US" i="1" dirty="0">
                <a:solidFill>
                  <a:schemeClr val="tx1"/>
                </a:solidFill>
              </a:rPr>
              <a:t>.</a:t>
            </a:r>
            <a:endParaRPr dirty="0"/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Москва, Саратов, Санкт-Петербург</a:t>
            </a:r>
            <a:endParaRPr dirty="0"/>
          </a:p>
        </p:txBody>
      </p:sp>
      <p:sp>
        <p:nvSpPr>
          <p:cNvPr id="1108155298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2093680067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accent5"/>
                </a:solidFill>
                <a:latin typeface="Montserrat"/>
              </a:rPr>
              <a:t>КОМАНДА</a:t>
            </a:r>
            <a:r>
              <a:rPr lang="en-US" sz="2400" dirty="0">
                <a:solidFill>
                  <a:schemeClr val="accent5"/>
                </a:solidFill>
                <a:latin typeface="Montserrat"/>
              </a:rPr>
              <a:t> “</a:t>
            </a:r>
            <a:r>
              <a:rPr lang="es-ES_tradnl" sz="2400" dirty="0">
                <a:solidFill>
                  <a:schemeClr val="accent5"/>
                </a:solidFill>
                <a:latin typeface="Montserrat"/>
              </a:rPr>
              <a:t>ProblemSolutions</a:t>
            </a:r>
            <a:br>
              <a:rPr lang="es-ES_tradnl" sz="2400" dirty="0">
                <a:solidFill>
                  <a:schemeClr val="accent5"/>
                </a:solidFill>
                <a:latin typeface="Montserrat"/>
              </a:rPr>
            </a:br>
            <a:r>
              <a:rPr lang="es-ES_tradnl" sz="2400" dirty="0">
                <a:solidFill>
                  <a:schemeClr val="accent5"/>
                </a:solidFill>
                <a:latin typeface="Montserrat"/>
              </a:rPr>
              <a:t>Maxxing</a:t>
            </a:r>
            <a:r>
              <a:rPr lang="en-US" sz="2400" dirty="0">
                <a:solidFill>
                  <a:schemeClr val="accent5"/>
                </a:solidFill>
                <a:latin typeface="Montserrat"/>
              </a:rPr>
              <a:t>”</a:t>
            </a:r>
            <a:endParaRPr lang="ru-RU" sz="2400" dirty="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33852466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6056853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3561085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25028795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  <a:endParaRPr dirty="0"/>
          </a:p>
        </p:txBody>
      </p:sp>
      <p:sp>
        <p:nvSpPr>
          <p:cNvPr id="1130240197" name="Текст 8"/>
          <p:cNvSpPr txBox="1"/>
          <p:nvPr/>
        </p:nvSpPr>
        <p:spPr bwMode="auto">
          <a:xfrm>
            <a:off x="6808027" y="2619902"/>
            <a:ext cx="4945565" cy="158509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Сервис ставит репозиторию </a:t>
            </a:r>
            <a:r>
              <a:rPr lang="ru-RU" dirty="0" err="1">
                <a:solidFill>
                  <a:schemeClr val="tx1"/>
                </a:solidFill>
              </a:rPr>
              <a:t>SourceCraft</a:t>
            </a:r>
            <a:r>
              <a:rPr lang="ru-RU" dirty="0">
                <a:solidFill>
                  <a:schemeClr val="tx1"/>
                </a:solidFill>
              </a:rPr>
              <a:t> оценку от 0 до 100: насколько им удобно и безопасно пользоваться. Описаны прозрачные критерии оценки.</a:t>
            </a:r>
            <a:endParaRPr lang="ru-RU" dirty="0"/>
          </a:p>
        </p:txBody>
      </p:sp>
      <p:sp>
        <p:nvSpPr>
          <p:cNvPr id="1231159980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158589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6515730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Backend-</a:t>
            </a: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s-ES_tradnl" sz="1200" dirty="0">
                <a:solidFill>
                  <a:schemeClr val="tx1"/>
                </a:solidFill>
              </a:rPr>
              <a:t>@w_eReem</a:t>
            </a:r>
            <a:endParaRPr lang="ru-RU"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+7 953 728 3185</a:t>
            </a:r>
            <a:endParaRPr lang="ru-RU"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РТУ МИРЭА</a:t>
            </a:r>
            <a:endParaRPr lang="ru-RU" sz="1200" dirty="0"/>
          </a:p>
        </p:txBody>
      </p:sp>
      <p:sp>
        <p:nvSpPr>
          <p:cNvPr id="1047149963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Артем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Ерёмин</a:t>
            </a:r>
            <a:endParaRPr lang="ru-RU" dirty="0"/>
          </a:p>
        </p:txBody>
      </p:sp>
      <p:sp>
        <p:nvSpPr>
          <p:cNvPr id="988627536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91842971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Backend-</a:t>
            </a: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s-ES_tradnl" sz="1200" dirty="0">
                <a:solidFill>
                  <a:schemeClr val="tx1"/>
                </a:solidFill>
              </a:rPr>
              <a:t>@Sanek_028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+7 928 152 3527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РТУ МИРЭА</a:t>
            </a:r>
            <a:endParaRPr lang="ru-RU" sz="1200" dirty="0"/>
          </a:p>
        </p:txBody>
      </p:sp>
      <p:sp>
        <p:nvSpPr>
          <p:cNvPr id="1925208131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Александр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Лозинский</a:t>
            </a:r>
            <a:endParaRPr dirty="0"/>
          </a:p>
        </p:txBody>
      </p:sp>
      <p:sp>
        <p:nvSpPr>
          <p:cNvPr id="1874355659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84612514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Frontend-</a:t>
            </a: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s-ES_tradnl" sz="1200" dirty="0">
                <a:solidFill>
                  <a:schemeClr val="tx1"/>
                </a:solidFill>
              </a:rPr>
              <a:t>@Wels22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+7 995 629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1405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СПБГЭТУ ЛЭТИ</a:t>
            </a:r>
          </a:p>
        </p:txBody>
      </p:sp>
      <p:sp>
        <p:nvSpPr>
          <p:cNvPr id="772477867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Иван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Рябов</a:t>
            </a:r>
            <a:endParaRPr dirty="0"/>
          </a:p>
        </p:txBody>
      </p:sp>
      <p:sp>
        <p:nvSpPr>
          <p:cNvPr id="1871833026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67121510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Backend-</a:t>
            </a: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s-ES_tradnl" sz="1200" dirty="0">
                <a:solidFill>
                  <a:schemeClr val="tx1"/>
                </a:solidFill>
              </a:rPr>
              <a:t>@V1adimmiRR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+7 967 807 7400</a:t>
            </a:r>
            <a:endParaRPr lang="ru-RU"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СГТУ имени Гагарина Ю. А.</a:t>
            </a:r>
          </a:p>
        </p:txBody>
      </p:sp>
      <p:sp>
        <p:nvSpPr>
          <p:cNvPr id="357953664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Владимир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Бакаев</a:t>
            </a:r>
            <a:endParaRPr dirty="0"/>
          </a:p>
        </p:txBody>
      </p:sp>
      <p:sp>
        <p:nvSpPr>
          <p:cNvPr id="865328273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37877918" name="Скругленный прямоугольник 12"/>
          <p:cNvSpPr/>
          <p:nvPr/>
        </p:nvSpPr>
        <p:spPr bwMode="auto">
          <a:xfrm>
            <a:off x="346075" y="284480"/>
            <a:ext cx="4514228" cy="661001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24015982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E623382-5163-69DC-2DD7-59011128B341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4931" b="4931"/>
          <a:stretch/>
        </p:blipFill>
        <p:spPr bwMode="auto">
          <a:xfrm>
            <a:off x="581025" y="1816100"/>
            <a:ext cx="1722438" cy="15525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749D7A5-18F5-EA15-67CE-31D0C315AE54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6" r="2896"/>
          <a:stretch>
            <a:fillRect/>
          </a:stretch>
        </p:blipFill>
        <p:spPr bwMode="auto">
          <a:xfrm>
            <a:off x="2886075" y="1827213"/>
            <a:ext cx="1722438" cy="1541462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B0003A5-114F-0849-023F-73607A082C53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7" b="4747"/>
          <a:stretch>
            <a:fillRect/>
          </a:stretch>
        </p:blipFill>
        <p:spPr bwMode="auto">
          <a:xfrm>
            <a:off x="5191125" y="1809750"/>
            <a:ext cx="1722438" cy="1558925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F33DCC4-F294-448B-79A0-72EA7735FD15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7" b="4747"/>
          <a:stretch>
            <a:fillRect/>
          </a:stretch>
        </p:blipFill>
        <p:spPr bwMode="auto">
          <a:xfrm>
            <a:off x="7519988" y="1809750"/>
            <a:ext cx="1722437" cy="1558925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F8302E8-085C-2CA1-9C9B-3725EF8E4175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8"/>
          <a:srcRect t="4747" b="4747"/>
          <a:stretch/>
        </p:blipFill>
        <p:spPr bwMode="auto">
          <a:xfrm>
            <a:off x="9802813" y="1809750"/>
            <a:ext cx="1722437" cy="1558925"/>
          </a:xfrm>
          <a:prstGeom prst="rect">
            <a:avLst/>
          </a:prstGeom>
        </p:spPr>
      </p:pic>
      <p:sp>
        <p:nvSpPr>
          <p:cNvPr id="968841564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4514228" cy="495694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“</a:t>
            </a:r>
            <a:r>
              <a:rPr lang="es-ES_tradnl" dirty="0">
                <a:latin typeface="Montserrat"/>
              </a:rPr>
              <a:t>ProblemSolutions</a:t>
            </a:r>
            <a:br>
              <a:rPr lang="es-ES_tradnl" dirty="0">
                <a:latin typeface="Montserrat"/>
              </a:rPr>
            </a:br>
            <a:r>
              <a:rPr lang="es-ES_tradnl" dirty="0">
                <a:latin typeface="Montserrat"/>
              </a:rPr>
              <a:t>Maxxing”</a:t>
            </a:r>
            <a:endParaRPr lang="ru-RU" dirty="0">
              <a:latin typeface="Montserrat"/>
            </a:endParaRPr>
          </a:p>
        </p:txBody>
      </p:sp>
      <p:sp>
        <p:nvSpPr>
          <p:cNvPr id="800889727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Backend-</a:t>
            </a: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@ganlli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+7 919 967 7961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РТУ МИРЭА</a:t>
            </a:r>
            <a:endParaRPr dirty="0"/>
          </a:p>
        </p:txBody>
      </p:sp>
      <p:sp>
        <p:nvSpPr>
          <p:cNvPr id="75748428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Илья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Ганялин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798024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59000830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6" y="1602273"/>
            <a:ext cx="5350899" cy="9342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Мы собрались из трёх городов. Часть команды уже была знакома по работе, остальные встретились уже на этом проекте. Вместе в хакатонах мы раньше не участвовали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– это первый хакатон в таком составе.</a:t>
            </a:r>
            <a:endParaRPr dirty="0"/>
          </a:p>
        </p:txBody>
      </p:sp>
      <p:sp>
        <p:nvSpPr>
          <p:cNvPr id="2014104028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  <a:endParaRPr dirty="0"/>
          </a:p>
        </p:txBody>
      </p:sp>
      <p:sp>
        <p:nvSpPr>
          <p:cNvPr id="716611857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Сложнее всего было совмещать проект с учёбой и личными делами. Поэтому работу разделили заранее: документация и код, активность и задачи, общее ядро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ru-RU" dirty="0">
                <a:solidFill>
                  <a:schemeClr val="tx1"/>
                </a:solidFill>
              </a:rPr>
              <a:t> безопасность и CI/CD. Так каждый делал свою часть, а потом мы собирали всё в один запуск.</a:t>
            </a:r>
            <a:endParaRPr dirty="0"/>
          </a:p>
        </p:txBody>
      </p:sp>
      <p:sp>
        <p:nvSpPr>
          <p:cNvPr id="2015472376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  <a:endParaRPr dirty="0"/>
          </a:p>
        </p:txBody>
      </p:sp>
      <p:sp>
        <p:nvSpPr>
          <p:cNvPr id="1849351419" name="Текст 8"/>
          <p:cNvSpPr txBox="1"/>
          <p:nvPr/>
        </p:nvSpPr>
        <p:spPr bwMode="auto">
          <a:xfrm>
            <a:off x="533607" y="3429000"/>
            <a:ext cx="5238932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Мы выбрали эту задачу, потому что она про знакомую ситуацию: открываешь репозиторий и не понимаешь, можно ли ему доверять. </a:t>
            </a:r>
            <a:endParaRPr dirty="0"/>
          </a:p>
        </p:txBody>
      </p:sp>
      <p:sp>
        <p:nvSpPr>
          <p:cNvPr id="617948020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248098159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1534199" name="Прямая соединительная линия 5"/>
          <p:cNvCxnSpPr/>
          <p:nvPr/>
        </p:nvCxnSpPr>
        <p:spPr bwMode="auto">
          <a:xfrm>
            <a:off x="623888" y="4394625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9872953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59683540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361373596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68713136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82708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05556527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85882432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6275459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65294793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Веб-сервис считает </a:t>
            </a:r>
            <a:r>
              <a:rPr lang="ru-RU" sz="1400" dirty="0" err="1">
                <a:solidFill>
                  <a:schemeClr val="tx1"/>
                </a:solidFill>
              </a:rPr>
              <a:t>Repo</a:t>
            </a:r>
            <a:r>
              <a:rPr lang="ru-RU" sz="1400" dirty="0">
                <a:solidFill>
                  <a:schemeClr val="tx1"/>
                </a:solidFill>
              </a:rPr>
              <a:t> Health </a:t>
            </a:r>
            <a:r>
              <a:rPr lang="ru-RU" sz="1400" dirty="0" err="1">
                <a:solidFill>
                  <a:schemeClr val="tx1"/>
                </a:solidFill>
              </a:rPr>
              <a:t>Score</a:t>
            </a:r>
            <a:r>
              <a:rPr lang="ru-RU" sz="1400" dirty="0">
                <a:solidFill>
                  <a:schemeClr val="tx1"/>
                </a:solidFill>
              </a:rPr>
              <a:t> репозитория на </a:t>
            </a:r>
            <a:r>
              <a:rPr lang="ru-RU" sz="1400" dirty="0" err="1">
                <a:solidFill>
                  <a:schemeClr val="tx1"/>
                </a:solidFill>
              </a:rPr>
              <a:t>SourceCraft</a:t>
            </a:r>
            <a:r>
              <a:rPr lang="ru-RU" sz="1400" dirty="0">
                <a:solidFill>
                  <a:schemeClr val="tx1"/>
                </a:solidFill>
              </a:rPr>
              <a:t>. </a:t>
            </a:r>
          </a:p>
          <a:p>
            <a:pPr>
              <a:defRPr/>
            </a:pPr>
            <a:r>
              <a:rPr lang="ru-RU" sz="1400" dirty="0" err="1">
                <a:solidFill>
                  <a:schemeClr val="tx1"/>
                </a:solidFill>
              </a:rPr>
              <a:t>Backend</a:t>
            </a:r>
            <a:r>
              <a:rPr lang="ru-RU" sz="1400" dirty="0">
                <a:solidFill>
                  <a:schemeClr val="tx1"/>
                </a:solidFill>
              </a:rPr>
              <a:t> на Python собирает факты по шести категориям — безопасность, CI/CD, документация, активность, задачи и состояние кода — и отдаёт готовый отчёт. </a:t>
            </a:r>
            <a:r>
              <a:rPr lang="ru-RU" sz="1400" dirty="0" err="1">
                <a:solidFill>
                  <a:schemeClr val="tx1"/>
                </a:solidFill>
              </a:rPr>
              <a:t>Frontend</a:t>
            </a:r>
            <a:r>
              <a:rPr lang="ru-RU" sz="1400" dirty="0">
                <a:solidFill>
                  <a:schemeClr val="tx1"/>
                </a:solidFill>
              </a:rPr>
              <a:t> его только показывает.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В оценку входят только категории, по которым данные реально есть. Если данных нет, это отдельный статус, а не ноль. 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Рядом с баллом лежат факты и рекомендации, что поправить. Исходники репозитория хранятся только на время анализа</a:t>
            </a:r>
            <a:endParaRPr dirty="0"/>
          </a:p>
        </p:txBody>
      </p:sp>
      <p:sp>
        <p:nvSpPr>
          <p:cNvPr id="1223740162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Автор репозитория видит, где проект слабый, и с чего начать правки.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Разработчик, выбирая чужой код, быстрее решает, стоит ли на него опираться.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Организация видит, какие её открытые проекты в порядке, а какие пора подтянуть.</a:t>
            </a:r>
          </a:p>
        </p:txBody>
      </p:sp>
      <p:sp>
        <p:nvSpPr>
          <p:cNvPr id="865799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83149588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61035104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dirty="0"/>
          </a:p>
          <a:p>
            <a:pPr>
              <a:lnSpc>
                <a:spcPct val="100000"/>
              </a:lnSpc>
              <a:defRPr/>
            </a:pP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54224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07499833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4937652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Чтобы решить, можно ли пользоваться открытым репозиторием, нужно ответить сразу на несколько вопросов: собирается ли проект, есть ли уязвимости, понятно ли он описан, живой ли он и отвечают ли на задачи.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В </a:t>
            </a:r>
            <a:r>
              <a:rPr lang="ru-RU" dirty="0" err="1">
                <a:solidFill>
                  <a:schemeClr val="tx1"/>
                </a:solidFill>
              </a:rPr>
              <a:t>SourceCraft</a:t>
            </a:r>
            <a:r>
              <a:rPr lang="ru-RU" dirty="0">
                <a:solidFill>
                  <a:schemeClr val="tx1"/>
                </a:solidFill>
              </a:rPr>
              <a:t> эти сведения уже есть, но каждое лежит в своём разделе. Общей оценки нет, и вывод приходится собирать вручную.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Здесь легко ошибиться. Если проверка безопасности не пришла или по задачам нет данных, репозиторий ещё не плохой. Пустое место и настоящая проблема выглядят похоже.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93976653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6</a:t>
            </a:fld>
            <a:endParaRPr lang="ru-RU"/>
          </a:p>
        </p:txBody>
      </p:sp>
      <p:sp>
        <p:nvSpPr>
          <p:cNvPr id="461292714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5"/>
                </a:solidFill>
              </a:rPr>
              <a:t>Проблемы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900484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5"/>
                </a:solidFill>
              </a:rPr>
              <a:t>Кому это нужно</a:t>
            </a:r>
          </a:p>
        </p:txBody>
      </p:sp>
      <p:sp>
        <p:nvSpPr>
          <p:cNvPr id="571897941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4902200" cy="7125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Разработчикам, которые выбирают чужой открытый проект</a:t>
            </a:r>
          </a:p>
        </p:txBody>
      </p:sp>
      <p:sp>
        <p:nvSpPr>
          <p:cNvPr id="640692760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4902200" cy="7125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Разработчикам, которые проверяют, можно ли на него опереться</a:t>
            </a:r>
          </a:p>
        </p:txBody>
      </p:sp>
      <p:sp>
        <p:nvSpPr>
          <p:cNvPr id="755513451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4902200" cy="7125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Авторам, которые хотят увидеть состояние своего репозитория</a:t>
            </a:r>
          </a:p>
        </p:txBody>
      </p:sp>
      <p:sp>
        <p:nvSpPr>
          <p:cNvPr id="1941156139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4902200" cy="7125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Командам, которым нужна одна понятная оценка вместо ручного просмотра</a:t>
            </a:r>
          </a:p>
        </p:txBody>
      </p:sp>
      <p:sp>
        <p:nvSpPr>
          <p:cNvPr id="1942530031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4902200" cy="7125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Тем, кто сравнивает проекты по состоянию, а не по популярности</a:t>
            </a:r>
          </a:p>
        </p:txBody>
      </p:sp>
      <p:sp>
        <p:nvSpPr>
          <p:cNvPr id="170686606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7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348653839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0588048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22416501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2811171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80512422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30268" name="Скругленный прямоугольник 9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83037044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9081258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42988739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5793624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8787747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21955271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Балл</a:t>
            </a:r>
          </a:p>
        </p:txBody>
      </p:sp>
      <p:sp>
        <p:nvSpPr>
          <p:cNvPr id="1335570512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Одна оценка от 0 до 100 вместо просмотра каждого раздела отдельно. По ней видно, насколько репозиторием удобно и безопасно пользоваться.</a:t>
            </a:r>
          </a:p>
        </p:txBody>
      </p:sp>
      <p:sp>
        <p:nvSpPr>
          <p:cNvPr id="168546410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Категории</a:t>
            </a:r>
          </a:p>
        </p:txBody>
      </p:sp>
      <p:sp>
        <p:nvSpPr>
          <p:cNvPr id="1453138436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Балл раскрыт по частям: безопасность, сборки, описание, активность, задачи и состояние кода. Сразу видно, где проект сильный и какая сторона требует внимания.</a:t>
            </a:r>
          </a:p>
        </p:txBody>
      </p:sp>
      <p:sp>
        <p:nvSpPr>
          <p:cNvPr id="2107053092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Действие</a:t>
            </a:r>
          </a:p>
        </p:txBody>
      </p:sp>
      <p:sp>
        <p:nvSpPr>
          <p:cNvPr id="1091774991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Рядом с оценкой стоит конкретный шаг: что исправить в первую очередь. Он опирается на найденный факт и стоит выше менее срочных.</a:t>
            </a:r>
          </a:p>
        </p:txBody>
      </p:sp>
      <p:sp>
        <p:nvSpPr>
          <p:cNvPr id="1736160966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Отчёт</a:t>
            </a:r>
          </a:p>
        </p:txBody>
      </p:sp>
      <p:sp>
        <p:nvSpPr>
          <p:cNvPr id="853936261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Тот же разбор открывается на странице и выгружается в файл. Цифры, причины и действия в обоих местах совпадают.</a:t>
            </a:r>
          </a:p>
        </p:txBody>
      </p:sp>
      <p:sp>
        <p:nvSpPr>
          <p:cNvPr id="23990170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Ценность</a:t>
            </a:r>
          </a:p>
        </p:txBody>
      </p:sp>
      <p:sp>
        <p:nvSpPr>
          <p:cNvPr id="1620604772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466173601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36166473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  <a:p>
            <a:pPr>
              <a:defRPr/>
            </a:pPr>
            <a:r>
              <a:rPr lang="ru-RU" b="1" dirty="0">
                <a:solidFill>
                  <a:schemeClr val="accent5"/>
                </a:solidFill>
              </a:rPr>
              <a:t>	</a:t>
            </a:r>
          </a:p>
        </p:txBody>
      </p:sp>
      <p:sp>
        <p:nvSpPr>
          <p:cNvPr id="402750109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 b="1" dirty="0">
                <a:solidFill>
                  <a:schemeClr val="accent5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972727" name="Скругленный прямоугольник 2"/>
          <p:cNvSpPr/>
          <p:nvPr/>
        </p:nvSpPr>
        <p:spPr bwMode="auto">
          <a:xfrm>
            <a:off x="346074" y="324562"/>
            <a:ext cx="4070415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647565914" name="Рисунок 1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952591" y="881517"/>
            <a:ext cx="5865844" cy="3690413"/>
          </a:xfrm>
          <a:prstGeom prst="rect">
            <a:avLst/>
          </a:prstGeom>
        </p:spPr>
      </p:pic>
      <p:sp>
        <p:nvSpPr>
          <p:cNvPr id="1386187124" name="Рисунок 1"/>
          <p:cNvSpPr>
            <a:spLocks noGrp="1"/>
          </p:cNvSpPr>
          <p:nvPr>
            <p:ph type="pic" sz="quarter" idx="14"/>
          </p:nvPr>
        </p:nvSpPr>
        <p:spPr bwMode="auto">
          <a:xfrm>
            <a:off x="4068417" y="1187395"/>
            <a:ext cx="3988905" cy="3000292"/>
          </a:xfrm>
          <a:prstGeom prst="roundRect">
            <a:avLst>
              <a:gd name="adj" fmla="val 3416"/>
            </a:avLst>
          </a:prstGeom>
          <a:noFill/>
          <a:ln>
            <a:noFill/>
          </a:ln>
        </p:spPr>
      </p:sp>
      <p:sp>
        <p:nvSpPr>
          <p:cNvPr id="695272504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9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69406269" name="Текст 3"/>
          <p:cNvSpPr>
            <a:spLocks noGrp="1"/>
          </p:cNvSpPr>
          <p:nvPr>
            <p:ph type="body" sz="quarter" idx="15"/>
          </p:nvPr>
        </p:nvSpPr>
        <p:spPr bwMode="auto">
          <a:xfrm>
            <a:off x="525817" y="4656083"/>
            <a:ext cx="3447093" cy="154469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Нет данных не равно нулю. Если источник не ответил, категория не получает ноль и не входит в общий балл.</a:t>
            </a:r>
          </a:p>
        </p:txBody>
      </p:sp>
      <p:sp>
        <p:nvSpPr>
          <p:cNvPr id="1776303643" name="Текст 4"/>
          <p:cNvSpPr>
            <a:spLocks noGrp="1"/>
          </p:cNvSpPr>
          <p:nvPr>
            <p:ph type="body" sz="quarter" idx="16"/>
          </p:nvPr>
        </p:nvSpPr>
        <p:spPr bwMode="auto">
          <a:xfrm>
            <a:off x="4370576" y="4665521"/>
            <a:ext cx="3348951" cy="154469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Неполное покрытие не режет балл. Если измерена только часть категорий, оценка помечается как предварительная. Число на эту долю не умножается.</a:t>
            </a:r>
          </a:p>
        </p:txBody>
      </p:sp>
      <p:sp>
        <p:nvSpPr>
          <p:cNvPr id="943805805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8219089" y="4656083"/>
            <a:ext cx="3836061" cy="154469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Критичная уязвимость ограничивает итог. Подтверждённая открытая критичная находка проверки безопасности не даёт баллу подняться выше 60. Ложная и уже исправленная находка на итог не влияют.</a:t>
            </a:r>
          </a:p>
        </p:txBody>
      </p:sp>
      <p:sp>
        <p:nvSpPr>
          <p:cNvPr id="306881352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Честные правила оценки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10E5B0-74A0-40CD-2A70-B9175EAD7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051" y="1139662"/>
            <a:ext cx="5160925" cy="3143473"/>
          </a:xfrm>
          <a:prstGeom prst="rect">
            <a:avLst/>
          </a:prstGeom>
        </p:spPr>
      </p:pic>
      <p:pic>
        <p:nvPicPr>
          <p:cNvPr id="4" name="Рисунок 1418">
            <a:extLst>
              <a:ext uri="{FF2B5EF4-FFF2-40B4-BE49-F238E27FC236}">
                <a16:creationId xmlns:a16="http://schemas.microsoft.com/office/drawing/2014/main" id="{8EAC5992-7F8B-2477-2930-39A030BD18D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910075" y="6009288"/>
            <a:ext cx="395272" cy="395272"/>
          </a:xfrm>
          <a:prstGeom prst="rect">
            <a:avLst/>
          </a:prstGeom>
        </p:spPr>
      </p:pic>
      <p:pic>
        <p:nvPicPr>
          <p:cNvPr id="5" name="Рисунок 1396">
            <a:extLst>
              <a:ext uri="{FF2B5EF4-FFF2-40B4-BE49-F238E27FC236}">
                <a16:creationId xmlns:a16="http://schemas.microsoft.com/office/drawing/2014/main" id="{1ABBB3EC-D1C4-A568-F9C9-3C000D274C2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634909" y="6004484"/>
            <a:ext cx="427960" cy="427960"/>
          </a:xfrm>
          <a:prstGeom prst="rect">
            <a:avLst/>
          </a:prstGeom>
        </p:spPr>
      </p:pic>
      <p:pic>
        <p:nvPicPr>
          <p:cNvPr id="6" name="Рисунок 1398">
            <a:extLst>
              <a:ext uri="{FF2B5EF4-FFF2-40B4-BE49-F238E27FC236}">
                <a16:creationId xmlns:a16="http://schemas.microsoft.com/office/drawing/2014/main" id="{0EAE1C0D-C2A3-83D8-9CC5-AF64767222A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9728657" y="5986795"/>
            <a:ext cx="427960" cy="427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482802" name="Скругленный прямоугольник 8"/>
          <p:cNvSpPr/>
          <p:nvPr/>
        </p:nvSpPr>
        <p:spPr bwMode="auto">
          <a:xfrm>
            <a:off x="364736" y="263178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21792435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10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25133797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5"/>
                </a:solidFill>
              </a:rPr>
              <a:t>Из чего состоит оценка</a:t>
            </a:r>
          </a:p>
        </p:txBody>
      </p:sp>
      <p:sp>
        <p:nvSpPr>
          <p:cNvPr id="1328983868" name="Рисунок 3"/>
          <p:cNvSpPr>
            <a:spLocks noGrp="1"/>
          </p:cNvSpPr>
          <p:nvPr>
            <p:ph type="pic" sz="quarter" idx="10"/>
          </p:nvPr>
        </p:nvSpPr>
        <p:spPr bwMode="auto">
          <a:xfrm>
            <a:off x="6096001" y="0"/>
            <a:ext cx="6096000" cy="6857999"/>
          </a:xfrm>
        </p:spPr>
      </p:sp>
      <p:sp>
        <p:nvSpPr>
          <p:cNvPr id="219764140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1013927" y="1143695"/>
            <a:ext cx="4389346" cy="47173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Безопасность, 25%. Только полная проверка </a:t>
            </a:r>
            <a:r>
              <a:rPr lang="ru-RU" dirty="0" err="1">
                <a:solidFill>
                  <a:schemeClr val="tx1"/>
                </a:solidFill>
              </a:rPr>
              <a:t>SourceCraft</a:t>
            </a:r>
            <a:r>
              <a:rPr lang="ru-RU" dirty="0">
                <a:solidFill>
                  <a:schemeClr val="tx1"/>
                </a:solidFill>
              </a:rPr>
              <a:t>. Неполный результат не превращается в ноль.</a:t>
            </a:r>
          </a:p>
          <a:p>
            <a:pPr marL="0" indent="0">
              <a:buNone/>
              <a:defRPr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Сборки, 20%. Доля успешных автоматических запусков.</a:t>
            </a:r>
          </a:p>
          <a:p>
            <a:pPr marL="0" indent="0">
              <a:buNone/>
              <a:defRPr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Документация, 20%. Описание, лицензия, правила для участников и команда запуска.</a:t>
            </a:r>
          </a:p>
          <a:p>
            <a:pPr marL="0" indent="0">
              <a:buNone/>
              <a:defRPr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Активность, 15%. Коммиты, запросы на слияние и релизы за период.</a:t>
            </a:r>
          </a:p>
          <a:p>
            <a:pPr marL="0" indent="0">
              <a:buNone/>
              <a:defRPr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Работа с задачами, 15%. Не число открытых задач, а то, как проект на них отвечает: зависшие, тренд и скорость закрытия.</a:t>
            </a:r>
          </a:p>
          <a:p>
            <a:pPr marL="0" indent="0">
              <a:buNone/>
              <a:defRPr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Состояние кода, 5%. Пометки в коде вроде TODO и FIXME. Вес маленький, чтобы это не перетягивало итог.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5CB083-F6A0-5E0B-064C-FD7BC2513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610" y="1547805"/>
            <a:ext cx="5942782" cy="3762387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6" name="Рисунок 1350">
            <a:extLst>
              <a:ext uri="{FF2B5EF4-FFF2-40B4-BE49-F238E27FC236}">
                <a16:creationId xmlns:a16="http://schemas.microsoft.com/office/drawing/2014/main" id="{721419B5-8433-3C04-3984-15E99D49532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46366" y="1111284"/>
            <a:ext cx="775360" cy="775360"/>
          </a:xfrm>
          <a:prstGeom prst="rect">
            <a:avLst/>
          </a:prstGeom>
        </p:spPr>
      </p:pic>
      <p:pic>
        <p:nvPicPr>
          <p:cNvPr id="7" name="Рисунок 1374">
            <a:extLst>
              <a:ext uri="{FF2B5EF4-FFF2-40B4-BE49-F238E27FC236}">
                <a16:creationId xmlns:a16="http://schemas.microsoft.com/office/drawing/2014/main" id="{8FC74423-7B64-8DDE-B33A-628F91CB7F4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21180" y="1970779"/>
            <a:ext cx="649635" cy="649635"/>
          </a:xfrm>
          <a:prstGeom prst="rect">
            <a:avLst/>
          </a:prstGeom>
        </p:spPr>
      </p:pic>
      <p:pic>
        <p:nvPicPr>
          <p:cNvPr id="8" name="Рисунок 1388">
            <a:extLst>
              <a:ext uri="{FF2B5EF4-FFF2-40B4-BE49-F238E27FC236}">
                <a16:creationId xmlns:a16="http://schemas.microsoft.com/office/drawing/2014/main" id="{8CC8AA43-729B-5EF5-BBE5-697628C07DE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83772" y="2652825"/>
            <a:ext cx="724449" cy="724449"/>
          </a:xfrm>
          <a:prstGeom prst="rect">
            <a:avLst/>
          </a:prstGeom>
        </p:spPr>
      </p:pic>
      <p:pic>
        <p:nvPicPr>
          <p:cNvPr id="9" name="Рисунок 1384">
            <a:extLst>
              <a:ext uri="{FF2B5EF4-FFF2-40B4-BE49-F238E27FC236}">
                <a16:creationId xmlns:a16="http://schemas.microsoft.com/office/drawing/2014/main" id="{A92F54F4-DD26-BC69-1845-19E40181E89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383772" y="3377274"/>
            <a:ext cx="724449" cy="724449"/>
          </a:xfrm>
          <a:prstGeom prst="rect">
            <a:avLst/>
          </a:prstGeom>
        </p:spPr>
      </p:pic>
      <p:pic>
        <p:nvPicPr>
          <p:cNvPr id="10" name="Рисунок 1358">
            <a:extLst>
              <a:ext uri="{FF2B5EF4-FFF2-40B4-BE49-F238E27FC236}">
                <a16:creationId xmlns:a16="http://schemas.microsoft.com/office/drawing/2014/main" id="{1DD188AA-74A9-3612-FD9C-9B206B5EAD9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383772" y="4143455"/>
            <a:ext cx="724449" cy="724449"/>
          </a:xfrm>
          <a:prstGeom prst="rect">
            <a:avLst/>
          </a:prstGeom>
        </p:spPr>
      </p:pic>
      <p:pic>
        <p:nvPicPr>
          <p:cNvPr id="11" name="Рисунок 1394">
            <a:extLst>
              <a:ext uri="{FF2B5EF4-FFF2-40B4-BE49-F238E27FC236}">
                <a16:creationId xmlns:a16="http://schemas.microsoft.com/office/drawing/2014/main" id="{835F47DF-6D70-2D1F-BD3E-E728904A0FE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450520" y="5155764"/>
            <a:ext cx="590952" cy="5909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77724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 считается балл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3657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формула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210312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балл 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965960"/>
            <a:ext cx="81381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сумма (вес  ×  оценка категории)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670048"/>
            <a:ext cx="7498079" cy="41148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40" y="2788920"/>
            <a:ext cx="81381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сумма весов измеренных категорий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>
                <a:solidFill>
                  <a:srgbClr val="5C5368"/>
                </a:solidFill>
                <a:latin typeface="Montserrat"/>
                <a:ea typeface="Montserrat"/>
                <a:cs typeface="Montserrat"/>
              </a:rPr>
              <a:t>В расчёт входят только те части репозитория, которые удалось проверить.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434840"/>
            <a:ext cx="2651760" cy="1417320"/>
          </a:xfrm>
          <a:prstGeom prst="roundRect">
            <a:avLst>
              <a:gd name="adj" fmla="val 15000"/>
            </a:avLst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Нет данных</a:t>
            </a:r>
          </a:p>
          <a:p>
            <a:pPr algn="ctr"/>
            <a:r>
              <a:rPr sz="15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 сумму не входит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434840"/>
            <a:ext cx="2651760" cy="1417320"/>
          </a:xfrm>
          <a:prstGeom prst="roundRect">
            <a:avLst>
              <a:gd name="adj" fmla="val 15000"/>
            </a:avLst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Неподходящая категория</a:t>
            </a:r>
          </a:p>
          <a:p>
            <a:pPr algn="ctr"/>
            <a:r>
              <a:rPr sz="15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исключается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4434840"/>
            <a:ext cx="2651760" cy="1417320"/>
          </a:xfrm>
          <a:prstGeom prst="roundRect">
            <a:avLst>
              <a:gd name="adj" fmla="val 15000"/>
            </a:avLst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Неполное покрытие</a:t>
            </a:r>
          </a:p>
          <a:p>
            <a:pPr algn="ctr"/>
            <a:r>
              <a:rPr sz="15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число не уменьшает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7424" y="4434840"/>
            <a:ext cx="2651760" cy="1417320"/>
          </a:xfrm>
          <a:prstGeom prst="roundRect">
            <a:avLst>
              <a:gd name="adj" fmla="val 15000"/>
            </a:avLst>
          </a:prstGeom>
          <a:solidFill>
            <a:srgbClr val="FFD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Разные версии методики</a:t>
            </a:r>
          </a:p>
          <a:p>
            <a:pPr algn="ctr"/>
            <a:r>
              <a:rPr sz="15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не смешиваются</a:t>
            </a:r>
          </a:p>
        </p:txBody>
      </p:sp>
      <p:sp>
        <p:nvSpPr>
          <p:cNvPr id="24" name="Номер слайда 10">
            <a:extLst>
              <a:ext uri="{FF2B5EF4-FFF2-40B4-BE49-F238E27FC236}">
                <a16:creationId xmlns:a16="http://schemas.microsoft.com/office/drawing/2014/main" id="{FAE0FE81-F2D0-08AE-A234-44F842495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029656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6099548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6"/>
                </a:solidFill>
              </a:rPr>
              <a:t>12</a:t>
            </a:fld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397557710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F0053"/>
                </a:solidFill>
                <a:ea typeface="Montserrat"/>
                <a:cs typeface="Montserrat"/>
              </a:rPr>
              <a:t>Интерфейс (</a:t>
            </a:r>
            <a:r>
              <a:rPr lang="es-ES_tradnl" dirty="0">
                <a:solidFill>
                  <a:srgbClr val="FF0053"/>
                </a:solidFill>
                <a:ea typeface="Montserrat"/>
                <a:cs typeface="Montserrat"/>
              </a:rPr>
              <a:t>React)</a:t>
            </a:r>
            <a:endParaRPr lang="es-ES_tradnl" b="0" dirty="0">
              <a:solidFill>
                <a:schemeClr val="accent6"/>
              </a:solidFill>
            </a:endParaRPr>
          </a:p>
          <a:p>
            <a:pPr>
              <a:defRPr/>
            </a:pPr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1065218929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76590" y="1739825"/>
            <a:ext cx="4790314" cy="642164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Рейтинг и отчёт; балл на клиенте не считается — только данные с API</a:t>
            </a:r>
            <a:endParaRPr lang="ru-RU" dirty="0">
              <a:solidFill>
                <a:schemeClr val="accent6"/>
              </a:solidFill>
            </a:endParaRPr>
          </a:p>
          <a:p>
            <a:pPr>
              <a:defRPr/>
            </a:pP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087124485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520977"/>
                </a:solidFill>
                <a:ea typeface="Montserrat"/>
                <a:cs typeface="Montserrat"/>
              </a:rPr>
              <a:t>Сервер </a:t>
            </a:r>
            <a:r>
              <a:rPr lang="es-ES_tradnl" dirty="0">
                <a:solidFill>
                  <a:srgbClr val="520977"/>
                </a:solidFill>
                <a:ea typeface="Montserrat"/>
                <a:cs typeface="Montserrat"/>
              </a:rPr>
              <a:t>API (FastAPI)</a:t>
            </a:r>
            <a:endParaRPr lang="es-ES_tradnl" b="0" dirty="0">
              <a:solidFill>
                <a:schemeClr val="accent5"/>
              </a:solidFill>
            </a:endParaRPr>
          </a:p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74081795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76590" y="3008386"/>
            <a:ext cx="4790314" cy="642164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Запуск анализа, Яндекс ID, статус задания, отчёт и публичный рейтинг</a:t>
            </a:r>
            <a:endParaRPr lang="ru-RU" dirty="0">
              <a:solidFill>
                <a:schemeClr val="accent5"/>
              </a:solidFill>
            </a:endParaRPr>
          </a:p>
          <a:p>
            <a:pPr>
              <a:defRPr/>
            </a:pP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420682399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8A83D1"/>
                </a:solidFill>
                <a:ea typeface="Montserrat"/>
                <a:cs typeface="Montserrat"/>
              </a:rPr>
              <a:t>Ядро анализа</a:t>
            </a:r>
            <a:endParaRPr lang="ru-RU" b="0" dirty="0">
              <a:solidFill>
                <a:schemeClr val="accent6"/>
              </a:solidFill>
            </a:endParaRPr>
          </a:p>
          <a:p>
            <a:pPr>
              <a:defRPr/>
            </a:pPr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79309701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76590" y="4276947"/>
            <a:ext cx="4790314" cy="642164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Шесть анализаторов, </a:t>
            </a:r>
            <a:r>
              <a:rPr lang="ru-RU" dirty="0" err="1">
                <a:solidFill>
                  <a:srgbClr val="1C1D22"/>
                </a:solidFill>
                <a:ea typeface="Montserrat"/>
                <a:cs typeface="Montserrat"/>
              </a:rPr>
              <a:t>Git</a:t>
            </a: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 и </a:t>
            </a:r>
            <a:r>
              <a:rPr lang="ru-RU" dirty="0" err="1">
                <a:solidFill>
                  <a:srgbClr val="1C1D22"/>
                </a:solidFill>
                <a:ea typeface="Montserrat"/>
                <a:cs typeface="Montserrat"/>
              </a:rPr>
              <a:t>SourceCraft</a:t>
            </a: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, </a:t>
            </a:r>
            <a:r>
              <a:rPr lang="ru-RU" dirty="0" err="1">
                <a:solidFill>
                  <a:srgbClr val="1C1D22"/>
                </a:solidFill>
                <a:ea typeface="Montserrat"/>
                <a:cs typeface="Montserrat"/>
              </a:rPr>
              <a:t>Score</a:t>
            </a: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 и отчёт; фоновый </a:t>
            </a:r>
            <a:r>
              <a:rPr lang="ru-RU" dirty="0" err="1">
                <a:solidFill>
                  <a:srgbClr val="1C1D22"/>
                </a:solidFill>
                <a:ea typeface="Montserrat"/>
                <a:cs typeface="Montserrat"/>
              </a:rPr>
              <a:t>worker</a:t>
            </a: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 в </a:t>
            </a:r>
            <a:r>
              <a:rPr lang="ru-RU" dirty="0" err="1">
                <a:solidFill>
                  <a:srgbClr val="1C1D22"/>
                </a:solidFill>
                <a:ea typeface="Montserrat"/>
                <a:cs typeface="Montserrat"/>
              </a:rPr>
              <a:t>backend</a:t>
            </a:r>
            <a:endParaRPr lang="ru-RU" dirty="0">
              <a:solidFill>
                <a:schemeClr val="accent6"/>
              </a:solidFill>
            </a:endParaRPr>
          </a:p>
          <a:p>
            <a:pPr>
              <a:defRPr/>
            </a:pP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865292043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es-ES_tradnl" dirty="0">
                <a:solidFill>
                  <a:srgbClr val="5D2B84"/>
                </a:solidFill>
                <a:ea typeface="Montserrat"/>
                <a:cs typeface="Montserrat"/>
              </a:rPr>
              <a:t>PostgreSQL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10516812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76590" y="5545509"/>
            <a:ext cx="4790314" cy="642164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Очередь заданий, снимки отчётов, сессии и расписание публичного пересчёта</a:t>
            </a:r>
            <a:endParaRPr lang="ru-RU" dirty="0">
              <a:solidFill>
                <a:schemeClr val="accent5"/>
              </a:solidFill>
            </a:endParaRPr>
          </a:p>
          <a:p>
            <a:pPr>
              <a:defRPr/>
            </a:pPr>
            <a:endParaRPr lang="ru-RU" dirty="0">
              <a:solidFill>
                <a:schemeClr val="accent5"/>
              </a:solidFill>
            </a:endParaRPr>
          </a:p>
        </p:txBody>
      </p:sp>
      <p:graphicFrame>
        <p:nvGraphicFramePr>
          <p:cNvPr id="457578242" name="Диаграмма 11"/>
          <p:cNvGraphicFramePr>
            <a:graphicFrameLocks/>
          </p:cNvGraphicFramePr>
          <p:nvPr/>
        </p:nvGraphicFramePr>
        <p:xfrm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9729045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FFFFF"/>
                </a:solidFill>
                <a:ea typeface="Montserrat"/>
                <a:cs typeface="Montserrat"/>
              </a:rPr>
              <a:t>Архитектура</a:t>
            </a:r>
            <a:endParaRPr lang="ru-RU" dirty="0"/>
          </a:p>
        </p:txBody>
      </p:sp>
      <p:graphicFrame>
        <p:nvGraphicFramePr>
          <p:cNvPr id="4" name="Диаграмма 11">
            <a:extLst>
              <a:ext uri="{FF2B5EF4-FFF2-40B4-BE49-F238E27FC236}">
                <a16:creationId xmlns:a16="http://schemas.microsoft.com/office/drawing/2014/main" id="{DA7A65D7-A139-C976-843D-10FF4FEF97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9256215"/>
              </p:ext>
            </p:extLst>
          </p:nvPr>
        </p:nvGraphicFramePr>
        <p:xfrm>
          <a:off x="667995" y="1236166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081631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19301111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01390262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3359411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13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03091191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FF0053"/>
                </a:solidFill>
                <a:ea typeface="Montserrat"/>
                <a:cs typeface="Montserrat"/>
              </a:rPr>
              <a:t>Активные</a:t>
            </a:r>
            <a:endParaRPr lang="ru-RU" sz="1800" dirty="0">
              <a:solidFill>
                <a:srgbClr val="F92571"/>
              </a:solidFill>
            </a:endParaRPr>
          </a:p>
          <a:p>
            <a:pPr>
              <a:defRPr/>
            </a:pP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614978659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/>
          <a:lstStyle/>
          <a:p>
            <a:pPr>
              <a:defRPr/>
            </a:pPr>
            <a:r>
              <a:rPr lang="ru-RU" sz="1400" dirty="0">
                <a:solidFill>
                  <a:srgbClr val="1C1D22"/>
                </a:solidFill>
                <a:ea typeface="Montserrat"/>
                <a:cs typeface="Montserrat"/>
              </a:rPr>
              <a:t>Активность не старше 7 дней. Пересчитываем чаще — рейтинг не отстаёт от живых проектов.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70496472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>
              <a:defRPr/>
            </a:pP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389450666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/>
          <a:lstStyle/>
          <a:p>
            <a:pPr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543973777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>
              <a:defRPr/>
            </a:pP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2141905401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/>
          <a:lstStyle/>
          <a:p>
            <a:pPr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42775199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5"/>
                </a:solidFill>
              </a:rPr>
              <a:t>Как часто обновляем оценку</a:t>
            </a:r>
          </a:p>
        </p:txBody>
      </p:sp>
      <p:sp>
        <p:nvSpPr>
          <p:cNvPr id="1175075548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r>
              <a:rPr lang="ru-RU" sz="4400" b="1" dirty="0">
                <a:solidFill>
                  <a:srgbClr val="FF0053"/>
                </a:solidFill>
                <a:ea typeface="Montserrat"/>
                <a:cs typeface="Montserrat"/>
              </a:rPr>
              <a:t>6 ч</a:t>
            </a:r>
            <a:endParaRPr lang="ru-RU" sz="6600" b="1" dirty="0">
              <a:solidFill>
                <a:schemeClr val="accent5"/>
              </a:solidFill>
            </a:endParaRPr>
          </a:p>
          <a:p>
            <a:pPr>
              <a:defRPr/>
            </a:pP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37448072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92716076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3" name="Скругленный прямоугольник 7">
            <a:extLst>
              <a:ext uri="{FF2B5EF4-FFF2-40B4-BE49-F238E27FC236}">
                <a16:creationId xmlns:a16="http://schemas.microsoft.com/office/drawing/2014/main" id="{8FD08535-4C55-676D-2249-B952B9B1243A}"/>
              </a:ext>
            </a:extLst>
          </p:cNvPr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E154F0-628C-13C3-A25D-D021088F59C2}"/>
              </a:ext>
            </a:extLst>
          </p:cNvPr>
          <p:cNvSpPr txBox="1">
            <a:spLocks/>
          </p:cNvSpPr>
          <p:nvPr/>
        </p:nvSpPr>
        <p:spPr bwMode="auto">
          <a:xfrm>
            <a:off x="4623178" y="2493074"/>
            <a:ext cx="3034896" cy="4037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578755" rtl="0">
              <a:lnSpc>
                <a:spcPct val="90000"/>
              </a:lnSpc>
              <a:spcBef>
                <a:spcPts val="631"/>
              </a:spcBef>
              <a:buFont typeface="Arial"/>
              <a:buNone/>
              <a:defRPr sz="16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800">
                <a:solidFill>
                  <a:srgbClr val="520977"/>
                </a:solidFill>
                <a:ea typeface="Montserrat"/>
                <a:cs typeface="Montserrat"/>
              </a:rPr>
              <a:t>Обычные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9EE677-7A0B-AEA6-2C75-1F51F73C906A}"/>
              </a:ext>
            </a:extLst>
          </p:cNvPr>
          <p:cNvSpPr txBox="1">
            <a:spLocks/>
          </p:cNvSpPr>
          <p:nvPr/>
        </p:nvSpPr>
        <p:spPr bwMode="auto">
          <a:xfrm>
            <a:off x="4623178" y="3128740"/>
            <a:ext cx="3034896" cy="2797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600">
                <a:solidFill>
                  <a:srgbClr val="1C1D22"/>
                </a:solidFill>
                <a:ea typeface="Montserrat"/>
                <a:cs typeface="Montserrat"/>
              </a:rPr>
              <a:t>От 7 до 90 дней или дата неизвестна. Раз в сутки. За проход — не больше 10 заданий.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15">
            <a:extLst>
              <a:ext uri="{FF2B5EF4-FFF2-40B4-BE49-F238E27FC236}">
                <a16:creationId xmlns:a16="http://schemas.microsoft.com/office/drawing/2014/main" id="{C7F01CE4-20C1-C4B8-0571-E2C87FC04182}"/>
              </a:ext>
            </a:extLst>
          </p:cNvPr>
          <p:cNvSpPr txBox="1">
            <a:spLocks/>
          </p:cNvSpPr>
          <p:nvPr/>
        </p:nvSpPr>
        <p:spPr bwMode="auto">
          <a:xfrm>
            <a:off x="4615219" y="1766200"/>
            <a:ext cx="1480781" cy="5729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578755" rtl="0">
              <a:lnSpc>
                <a:spcPct val="90000"/>
              </a:lnSpc>
              <a:spcBef>
                <a:spcPts val="631"/>
              </a:spcBef>
              <a:buFont typeface="Arial"/>
              <a:buNone/>
              <a:defRPr sz="2800" b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4400" b="1">
                <a:solidFill>
                  <a:srgbClr val="520977"/>
                </a:solidFill>
                <a:ea typeface="Montserrat"/>
                <a:cs typeface="Montserrat"/>
              </a:rPr>
              <a:t>24 ч</a:t>
            </a:r>
            <a:endParaRPr lang="ru-RU" sz="6600" b="1" dirty="0">
              <a:solidFill>
                <a:schemeClr val="accent5"/>
              </a:solidFill>
            </a:endParaRPr>
          </a:p>
        </p:txBody>
      </p:sp>
      <p:sp>
        <p:nvSpPr>
          <p:cNvPr id="7" name="Скругленный прямоугольник 8">
            <a:extLst>
              <a:ext uri="{FF2B5EF4-FFF2-40B4-BE49-F238E27FC236}">
                <a16:creationId xmlns:a16="http://schemas.microsoft.com/office/drawing/2014/main" id="{00F75755-382A-47E9-9381-6E4D24A571F3}"/>
              </a:ext>
            </a:extLst>
          </p:cNvPr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5B24FDF0-59E2-470D-7288-208F86C26D1A}"/>
              </a:ext>
            </a:extLst>
          </p:cNvPr>
          <p:cNvSpPr txBox="1">
            <a:spLocks/>
          </p:cNvSpPr>
          <p:nvPr/>
        </p:nvSpPr>
        <p:spPr bwMode="auto">
          <a:xfrm>
            <a:off x="8547959" y="2493074"/>
            <a:ext cx="2945464" cy="4039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578755" rtl="0">
              <a:lnSpc>
                <a:spcPct val="90000"/>
              </a:lnSpc>
              <a:spcBef>
                <a:spcPts val="631"/>
              </a:spcBef>
              <a:buFont typeface="Arial"/>
              <a:buNone/>
              <a:defRPr sz="16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800">
                <a:solidFill>
                  <a:srgbClr val="8A83D1"/>
                </a:solidFill>
                <a:ea typeface="Montserrat"/>
                <a:cs typeface="Montserrat"/>
              </a:rPr>
              <a:t>Спящие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2CB47791-3E74-E73F-335B-AAAD7D7C51F7}"/>
              </a:ext>
            </a:extLst>
          </p:cNvPr>
          <p:cNvSpPr txBox="1">
            <a:spLocks/>
          </p:cNvSpPr>
          <p:nvPr/>
        </p:nvSpPr>
        <p:spPr bwMode="auto">
          <a:xfrm>
            <a:off x="8547959" y="3128740"/>
            <a:ext cx="2945464" cy="2797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600">
                <a:solidFill>
                  <a:srgbClr val="1C1D22"/>
                </a:solidFill>
                <a:ea typeface="Montserrat"/>
                <a:cs typeface="Montserrat"/>
              </a:rPr>
              <a:t>Старше 90 дней — раз в 3 дня. Несколько backend не берут одно задание дважды.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45E62788-60AC-4708-8761-F092FC3155D3}"/>
              </a:ext>
            </a:extLst>
          </p:cNvPr>
          <p:cNvSpPr txBox="1">
            <a:spLocks/>
          </p:cNvSpPr>
          <p:nvPr/>
        </p:nvSpPr>
        <p:spPr bwMode="auto">
          <a:xfrm>
            <a:off x="8547959" y="1766043"/>
            <a:ext cx="1516661" cy="5731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578755" rtl="0">
              <a:lnSpc>
                <a:spcPct val="90000"/>
              </a:lnSpc>
              <a:spcBef>
                <a:spcPts val="631"/>
              </a:spcBef>
              <a:buFont typeface="Arial"/>
              <a:buNone/>
              <a:defRPr sz="2800" b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4400" b="1">
                <a:solidFill>
                  <a:srgbClr val="8A83D1"/>
                </a:solidFill>
                <a:ea typeface="Montserrat"/>
                <a:cs typeface="Montserrat"/>
              </a:rPr>
              <a:t>72 ч</a:t>
            </a:r>
            <a:endParaRPr lang="ru-RU" sz="6600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504448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967066092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15444653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38479685" name="Скругленный прямоугольник 1"/>
          <p:cNvSpPr/>
          <p:nvPr/>
        </p:nvSpPr>
        <p:spPr bwMode="auto">
          <a:xfrm>
            <a:off x="346075" y="324562"/>
            <a:ext cx="398106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61706731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12687839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94236989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557043257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1800" b="1" dirty="0">
                <a:solidFill>
                  <a:srgbClr val="FF0053"/>
                </a:solidFill>
                <a:ea typeface="Montserrat"/>
                <a:cs typeface="Montserrat"/>
              </a:rPr>
              <a:t>Сейчас — уже работает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Сервис ставит репозиторию оценку 0–100 по шести категориям и объясняет, откуда взялся балл.</a:t>
            </a:r>
          </a:p>
          <a:p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Есть открытый рейтинг, проверка своего проекта после входа, выгрузка отчёта и регулярный пересчёт публичного каталога.</a:t>
            </a:r>
          </a:p>
          <a:p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Рекомендации показывают, что исправить в первую очередь.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02967298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1800" b="1" dirty="0">
                <a:solidFill>
                  <a:srgbClr val="520977"/>
                </a:solidFill>
                <a:ea typeface="Montserrat"/>
                <a:cs typeface="Montserrat"/>
              </a:rPr>
              <a:t>Оговорки — честные границы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Безопасность берём только из </a:t>
            </a:r>
            <a:r>
              <a:rPr lang="ru-RU" dirty="0" err="1">
                <a:solidFill>
                  <a:srgbClr val="1C1D22"/>
                </a:solidFill>
                <a:ea typeface="Montserrat"/>
                <a:cs typeface="Montserrat"/>
              </a:rPr>
              <a:t>AppSec</a:t>
            </a: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 </a:t>
            </a:r>
            <a:r>
              <a:rPr lang="ru-RU" dirty="0" err="1">
                <a:solidFill>
                  <a:srgbClr val="1C1D22"/>
                </a:solidFill>
                <a:ea typeface="Montserrat"/>
                <a:cs typeface="Montserrat"/>
              </a:rPr>
              <a:t>SourceCraft</a:t>
            </a: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: своего сканера у нас нет. Если скана нет — в балле этой части просто нет, а не ноль.</a:t>
            </a:r>
          </a:p>
          <a:p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Так же с другими источниками: нет данных ≠ плохая оценка.</a:t>
            </a:r>
          </a:p>
          <a:p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Исходный код после разбора не храним, секреты в отчёт не попадают.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75643334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1800" b="1" dirty="0">
                <a:solidFill>
                  <a:srgbClr val="8A83D1"/>
                </a:solidFill>
                <a:ea typeface="Montserrat"/>
                <a:cs typeface="Montserrat"/>
              </a:rPr>
              <a:t>Дальше — чего ещё нет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Планируем историю балла во времени, сравнение нескольких проектов и значок </a:t>
            </a:r>
            <a:r>
              <a:rPr lang="ru-RU" dirty="0" err="1">
                <a:solidFill>
                  <a:srgbClr val="1C1D22"/>
                </a:solidFill>
                <a:ea typeface="Montserrat"/>
                <a:cs typeface="Montserrat"/>
              </a:rPr>
              <a:t>Score</a:t>
            </a: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 для README.</a:t>
            </a:r>
          </a:p>
          <a:p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ИИ-сводку добавим как бонус поверх готовых рекомендаций — она не заменит числовой балл и методику.</a:t>
            </a:r>
          </a:p>
          <a:p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Сначала закрываем обязательный сценарий, потом расширения.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99813234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9193260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639739775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553499276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356453650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1910395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FFFFF"/>
                </a:solidFill>
                <a:ea typeface="Montserrat"/>
                <a:cs typeface="Montserrat"/>
              </a:rPr>
              <a:t>Куда развиваем продукт</a:t>
            </a:r>
            <a:endParaRPr lang="ru-RU" dirty="0"/>
          </a:p>
        </p:txBody>
      </p:sp>
      <p:cxnSp>
        <p:nvCxnSpPr>
          <p:cNvPr id="906016127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007123" name="Скругленный прямоугольник 11"/>
          <p:cNvSpPr/>
          <p:nvPr/>
        </p:nvSpPr>
        <p:spPr bwMode="auto">
          <a:xfrm>
            <a:off x="346075" y="324562"/>
            <a:ext cx="3162512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3868163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325529834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F0053"/>
                </a:solidFill>
                <a:ea typeface="Montserrat"/>
                <a:cs typeface="Montserrat"/>
              </a:rPr>
              <a:t>Рейтинг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68217220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Открытый список репозиториев: место и балл видны без входа.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55458180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F0053"/>
                </a:solidFill>
                <a:ea typeface="Montserrat"/>
                <a:cs typeface="Montserrat"/>
              </a:rPr>
              <a:t>Что делать</a:t>
            </a:r>
            <a:endParaRPr lang="ru-RU" b="0" dirty="0">
              <a:solidFill>
                <a:schemeClr val="accent5"/>
              </a:solidFill>
            </a:endParaRPr>
          </a:p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998455020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Где не хватило данных и какие правки важнее всего.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43359389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F0053"/>
                </a:solidFill>
                <a:ea typeface="Montserrat"/>
                <a:cs typeface="Montserrat"/>
              </a:rPr>
              <a:t>Свой проект</a:t>
            </a:r>
            <a:endParaRPr lang="ru-RU" b="0" dirty="0">
              <a:solidFill>
                <a:schemeClr val="accent5"/>
              </a:solidFill>
            </a:endParaRPr>
          </a:p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813097190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После входа через Яндекс ID — проверить свой репозиторий.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21457681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F0053"/>
                </a:solidFill>
                <a:ea typeface="Montserrat"/>
                <a:cs typeface="Montserrat"/>
              </a:rPr>
              <a:t>Разбор</a:t>
            </a:r>
            <a:endParaRPr lang="ru-RU" b="0" dirty="0">
              <a:solidFill>
                <a:schemeClr val="accent5"/>
              </a:solidFill>
            </a:endParaRPr>
          </a:p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34202021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Страница проекта: итоговый </a:t>
            </a:r>
            <a:r>
              <a:rPr lang="ru-RU" dirty="0" err="1">
                <a:solidFill>
                  <a:srgbClr val="1C1D22"/>
                </a:solidFill>
                <a:ea typeface="Montserrat"/>
                <a:cs typeface="Montserrat"/>
              </a:rPr>
              <a:t>Score</a:t>
            </a: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 и шесть категорий с пояснениями.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63014055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F0053"/>
                </a:solidFill>
                <a:ea typeface="Montserrat"/>
                <a:cs typeface="Montserrat"/>
              </a:rPr>
              <a:t>Отчёт</a:t>
            </a:r>
            <a:endParaRPr lang="ru-RU" b="0" dirty="0">
              <a:solidFill>
                <a:schemeClr val="accent5"/>
              </a:solidFill>
            </a:endParaRPr>
          </a:p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2134702266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Тот же разбор можно скачать файлом — </a:t>
            </a:r>
            <a:r>
              <a:rPr lang="ru-RU" dirty="0" err="1">
                <a:solidFill>
                  <a:srgbClr val="1C1D22"/>
                </a:solidFill>
                <a:ea typeface="Montserrat"/>
                <a:cs typeface="Montserrat"/>
              </a:rPr>
              <a:t>Markdown</a:t>
            </a:r>
            <a:r>
              <a:rPr lang="ru-RU" dirty="0">
                <a:solidFill>
                  <a:srgbClr val="1C1D22"/>
                </a:solidFill>
                <a:ea typeface="Montserrat"/>
                <a:cs typeface="Montserrat"/>
              </a:rPr>
              <a:t> или PDF.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44031822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77056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505854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6271288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7760261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5041261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0236145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412841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740816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0421877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608384887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2026219147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911232310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1116675537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99733617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FFFFF"/>
                </a:solidFill>
                <a:ea typeface="Montserrat"/>
                <a:cs typeface="Montserrat"/>
              </a:rPr>
              <a:t>Путь пользователя</a:t>
            </a:r>
            <a:endParaRPr lang="ru-RU" dirty="0"/>
          </a:p>
        </p:txBody>
      </p:sp>
      <p:sp>
        <p:nvSpPr>
          <p:cNvPr id="945657766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433006231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621934635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71011372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335820564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1348</Words>
  <Application>Microsoft Office PowerPoint</Application>
  <PresentationFormat>Широкоэкранный</PresentationFormat>
  <Paragraphs>191</Paragraphs>
  <Slides>15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Montserrat</vt:lpstr>
      <vt:lpstr>Wingdings</vt:lpstr>
      <vt:lpstr>Для Академия инноваторов 16_9</vt:lpstr>
      <vt:lpstr>ProblemSolutions Maxxing</vt:lpstr>
      <vt:lpstr>КОМАНДА “ProblemSolutions Maxxing”</vt:lpstr>
      <vt:lpstr>КОМАНДА “ProblemSolutions Maxxing”</vt:lpstr>
      <vt:lpstr>Презентация PowerPoint</vt:lpstr>
      <vt:lpstr>КОРОТКО О РЕШЕНИИ</vt:lpstr>
      <vt:lpstr>Проблемы</vt:lpstr>
      <vt:lpstr>Кому это нужно</vt:lpstr>
      <vt:lpstr>Ценность</vt:lpstr>
      <vt:lpstr>Честные правила оценки</vt:lpstr>
      <vt:lpstr>Из чего состоит оценка</vt:lpstr>
      <vt:lpstr>Презентация PowerPoint</vt:lpstr>
      <vt:lpstr>Архитектура</vt:lpstr>
      <vt:lpstr>Как часто обновляем оценку</vt:lpstr>
      <vt:lpstr>Куда развиваем продукт</vt:lpstr>
      <vt:lpstr>Путь пользователя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Илья Ганялин</cp:lastModifiedBy>
  <cp:revision>114</cp:revision>
  <dcterms:created xsi:type="dcterms:W3CDTF">2023-05-15T07:36:23Z</dcterms:created>
  <dcterms:modified xsi:type="dcterms:W3CDTF">2026-09-29T20:30:57Z</dcterms:modified>
</cp:coreProperties>
</file>